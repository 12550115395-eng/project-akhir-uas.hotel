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83" r:id="rId5"/>
    <p:sldId id="285" r:id="rId6"/>
    <p:sldId id="260" r:id="rId7"/>
    <p:sldId id="286" r:id="rId8"/>
    <p:sldId id="287" r:id="rId9"/>
    <p:sldId id="288" r:id="rId10"/>
    <p:sldId id="289" r:id="rId11"/>
    <p:sldId id="280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oppins Bold" panose="020B0604020202020204" charset="0"/>
      <p:regular r:id="rId17"/>
    </p:embeddedFont>
    <p:embeddedFont>
      <p:font typeface="Poppins" panose="020B060402020202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5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4754" y="620828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0" y="0"/>
                </a:moveTo>
                <a:lnTo>
                  <a:pt x="2595499" y="0"/>
                </a:lnTo>
                <a:lnTo>
                  <a:pt x="2595499" y="3199383"/>
                </a:lnTo>
                <a:lnTo>
                  <a:pt x="0" y="3199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233472" y="620828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2595499" y="0"/>
                </a:moveTo>
                <a:lnTo>
                  <a:pt x="0" y="0"/>
                </a:lnTo>
                <a:lnTo>
                  <a:pt x="0" y="3199383"/>
                </a:lnTo>
                <a:lnTo>
                  <a:pt x="2595499" y="3199383"/>
                </a:lnTo>
                <a:lnTo>
                  <a:pt x="259549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99823" y="-285278"/>
            <a:ext cx="14583773" cy="9880506"/>
          </a:xfrm>
          <a:custGeom>
            <a:avLst/>
            <a:gdLst/>
            <a:ahLst/>
            <a:cxnLst/>
            <a:rect l="l" t="t" r="r" b="b"/>
            <a:pathLst>
              <a:path w="14583773" h="9880506">
                <a:moveTo>
                  <a:pt x="0" y="0"/>
                </a:moveTo>
                <a:lnTo>
                  <a:pt x="14583773" y="0"/>
                </a:lnTo>
                <a:lnTo>
                  <a:pt x="14583773" y="9880507"/>
                </a:lnTo>
                <a:lnTo>
                  <a:pt x="0" y="9880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45387">
            <a:off x="740539" y="6699175"/>
            <a:ext cx="3572045" cy="2924612"/>
          </a:xfrm>
          <a:custGeom>
            <a:avLst/>
            <a:gdLst/>
            <a:ahLst/>
            <a:cxnLst/>
            <a:rect l="l" t="t" r="r" b="b"/>
            <a:pathLst>
              <a:path w="3572045" h="2924612">
                <a:moveTo>
                  <a:pt x="0" y="0"/>
                </a:moveTo>
                <a:lnTo>
                  <a:pt x="3572045" y="0"/>
                </a:lnTo>
                <a:lnTo>
                  <a:pt x="3572045" y="2924611"/>
                </a:lnTo>
                <a:lnTo>
                  <a:pt x="0" y="292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846462">
            <a:off x="1463485" y="4237282"/>
            <a:ext cx="1449949" cy="1812436"/>
          </a:xfrm>
          <a:custGeom>
            <a:avLst/>
            <a:gdLst/>
            <a:ahLst/>
            <a:cxnLst/>
            <a:rect l="l" t="t" r="r" b="b"/>
            <a:pathLst>
              <a:path w="1449949" h="1812436">
                <a:moveTo>
                  <a:pt x="0" y="0"/>
                </a:moveTo>
                <a:lnTo>
                  <a:pt x="1449949" y="0"/>
                </a:lnTo>
                <a:lnTo>
                  <a:pt x="1449949" y="1812436"/>
                </a:lnTo>
                <a:lnTo>
                  <a:pt x="0" y="1812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177000">
            <a:off x="14674488" y="7021043"/>
            <a:ext cx="2400669" cy="2400669"/>
          </a:xfrm>
          <a:custGeom>
            <a:avLst/>
            <a:gdLst/>
            <a:ahLst/>
            <a:cxnLst/>
            <a:rect l="l" t="t" r="r" b="b"/>
            <a:pathLst>
              <a:path w="2400669" h="2400669">
                <a:moveTo>
                  <a:pt x="0" y="0"/>
                </a:moveTo>
                <a:lnTo>
                  <a:pt x="2400669" y="0"/>
                </a:lnTo>
                <a:lnTo>
                  <a:pt x="2400669" y="2400668"/>
                </a:lnTo>
                <a:lnTo>
                  <a:pt x="0" y="2400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1666773">
            <a:off x="15160905" y="5289670"/>
            <a:ext cx="2194402" cy="770784"/>
          </a:xfrm>
          <a:custGeom>
            <a:avLst/>
            <a:gdLst/>
            <a:ahLst/>
            <a:cxnLst/>
            <a:rect l="l" t="t" r="r" b="b"/>
            <a:pathLst>
              <a:path w="2194402" h="770784">
                <a:moveTo>
                  <a:pt x="0" y="0"/>
                </a:moveTo>
                <a:lnTo>
                  <a:pt x="2194403" y="0"/>
                </a:lnTo>
                <a:lnTo>
                  <a:pt x="2194403" y="770784"/>
                </a:lnTo>
                <a:lnTo>
                  <a:pt x="0" y="770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061984" y="8403282"/>
            <a:ext cx="2417012" cy="855018"/>
          </a:xfrm>
          <a:custGeom>
            <a:avLst/>
            <a:gdLst/>
            <a:ahLst/>
            <a:cxnLst/>
            <a:rect l="l" t="t" r="r" b="b"/>
            <a:pathLst>
              <a:path w="2417012" h="855018">
                <a:moveTo>
                  <a:pt x="0" y="0"/>
                </a:moveTo>
                <a:lnTo>
                  <a:pt x="2417012" y="0"/>
                </a:lnTo>
                <a:lnTo>
                  <a:pt x="2417012" y="855018"/>
                </a:lnTo>
                <a:lnTo>
                  <a:pt x="0" y="855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95779" y="1028700"/>
            <a:ext cx="11697116" cy="529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226"/>
              </a:lnSpc>
            </a:pPr>
            <a:r>
              <a:rPr lang="en-US" sz="10000" b="1" dirty="0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UAS </a:t>
            </a:r>
          </a:p>
          <a:p>
            <a:pPr algn="ctr">
              <a:lnSpc>
                <a:spcPts val="14226"/>
              </a:lnSpc>
            </a:pPr>
            <a:r>
              <a:rPr lang="en-US" sz="8000" b="1" dirty="0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BERORIENTASI OBJEK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0748" y="-1424945"/>
            <a:ext cx="19689775" cy="4907291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0"/>
                </a:lnTo>
                <a:lnTo>
                  <a:pt x="0" y="490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28223" y="823838"/>
            <a:ext cx="15531077" cy="130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75"/>
              </a:lnSpc>
            </a:pPr>
            <a:r>
              <a:rPr lang="en-US" sz="8399" b="1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PEMBELAJARAN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84673" y="4515538"/>
            <a:ext cx="12518653" cy="500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Mengetahui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bagaimana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hotel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bekerja</a:t>
            </a:r>
            <a:endParaRPr lang="en-US" sz="3500" spc="1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654675" y="5702667"/>
            <a:ext cx="12944237" cy="109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Bisa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memahami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mengaplikasikanya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serupa</a:t>
            </a:r>
            <a:endParaRPr lang="en-US" sz="3500" spc="1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654674" y="7269821"/>
            <a:ext cx="12944237" cy="53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Memahami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fungsi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spc="1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operasi</a:t>
            </a:r>
            <a:r>
              <a:rPr lang="en-US" sz="3500" spc="1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hotel</a:t>
            </a:r>
          </a:p>
        </p:txBody>
      </p:sp>
      <p:sp>
        <p:nvSpPr>
          <p:cNvPr id="8" name="Freeform 8"/>
          <p:cNvSpPr/>
          <p:nvPr/>
        </p:nvSpPr>
        <p:spPr>
          <a:xfrm rot="-6273417">
            <a:off x="-478264" y="7699166"/>
            <a:ext cx="1637987" cy="2047484"/>
          </a:xfrm>
          <a:custGeom>
            <a:avLst/>
            <a:gdLst/>
            <a:ahLst/>
            <a:cxnLst/>
            <a:rect l="l" t="t" r="r" b="b"/>
            <a:pathLst>
              <a:path w="1637987" h="2047484">
                <a:moveTo>
                  <a:pt x="0" y="0"/>
                </a:moveTo>
                <a:lnTo>
                  <a:pt x="1637987" y="0"/>
                </a:lnTo>
                <a:lnTo>
                  <a:pt x="1637987" y="2047483"/>
                </a:lnTo>
                <a:lnTo>
                  <a:pt x="0" y="2047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666773">
            <a:off x="16706158" y="4946381"/>
            <a:ext cx="1979233" cy="695206"/>
          </a:xfrm>
          <a:custGeom>
            <a:avLst/>
            <a:gdLst/>
            <a:ahLst/>
            <a:cxnLst/>
            <a:rect l="l" t="t" r="r" b="b"/>
            <a:pathLst>
              <a:path w="1979233" h="695206">
                <a:moveTo>
                  <a:pt x="0" y="0"/>
                </a:moveTo>
                <a:lnTo>
                  <a:pt x="1979234" y="0"/>
                </a:lnTo>
                <a:lnTo>
                  <a:pt x="1979234" y="695206"/>
                </a:lnTo>
                <a:lnTo>
                  <a:pt x="0" y="69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22165" y="-526940"/>
            <a:ext cx="14423469" cy="176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UML CLASS DIAGRAM</a:t>
            </a:r>
          </a:p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-RESERVASI HOTEL-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702" y="1485900"/>
            <a:ext cx="9990184" cy="83531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F8239-DB6F-64C7-D60E-3F30632C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86F430-AEC7-A43A-01C6-99E240CD8BEE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E72744B-DEF7-342C-4584-3E5B408EA573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C339B1F-404F-6168-A59F-74FB6F245710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E9EAFE4-7F72-0E5D-6684-FBEC7001EED5}"/>
              </a:ext>
            </a:extLst>
          </p:cNvPr>
          <p:cNvSpPr txBox="1"/>
          <p:nvPr/>
        </p:nvSpPr>
        <p:spPr>
          <a:xfrm>
            <a:off x="1422165" y="-526940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KELAS INDUK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0A03F-0AD3-B39D-4A08-03686F71A9A6}"/>
              </a:ext>
            </a:extLst>
          </p:cNvPr>
          <p:cNvSpPr txBox="1"/>
          <p:nvPr/>
        </p:nvSpPr>
        <p:spPr>
          <a:xfrm>
            <a:off x="9334500" y="1943100"/>
            <a:ext cx="563880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di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samping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ini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 smtClean="0">
                <a:latin typeface="Poppins Bold"/>
                <a:ea typeface="Poppins Bold"/>
                <a:cs typeface="Poppins Bold"/>
                <a:sym typeface="Poppins Bold"/>
              </a:rPr>
              <a:t>menunjukkan</a:t>
            </a:r>
            <a:r>
              <a:rPr lang="id-ID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id-ID" b="1" dirty="0" smtClean="0">
                <a:latin typeface="Poppins Bold"/>
                <a:ea typeface="Poppins Bold"/>
                <a:cs typeface="Poppins Bold"/>
                <a:sym typeface="Poppins Bold"/>
              </a:rPr>
              <a:t>Kelas induk dan abstraksi, </a:t>
            </a:r>
            <a:r>
              <a:rPr lang="en-US" b="1" dirty="0" err="1" smtClean="0">
                <a:latin typeface="Poppins Bold"/>
                <a:ea typeface="Poppins Bold"/>
                <a:cs typeface="Poppins Bold"/>
                <a:sym typeface="Poppins Bold"/>
              </a:rPr>
              <a:t>bahwa</a:t>
            </a:r>
            <a:r>
              <a:rPr lang="en-US" b="1" dirty="0" smtClean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semua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item hotel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memiliki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fungsi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menampilkan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informasi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5FD48-6254-4210-5E55-A1512A70EBD8}"/>
              </a:ext>
            </a:extLst>
          </p:cNvPr>
          <p:cNvSpPr/>
          <p:nvPr/>
        </p:nvSpPr>
        <p:spPr>
          <a:xfrm>
            <a:off x="1767840" y="2214057"/>
            <a:ext cx="6705600" cy="3171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class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ItemHotel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(ABC):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  @abstractmethod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  def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tampilkan_info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(self):</a:t>
            </a:r>
          </a:p>
          <a:p>
            <a:pPr>
              <a:lnSpc>
                <a:spcPts val="6725"/>
              </a:lnSpc>
            </a:pP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00925-DFB1-6538-1E5E-02EEC87DFB29}"/>
              </a:ext>
            </a:extLst>
          </p:cNvPr>
          <p:cNvSpPr txBox="1"/>
          <p:nvPr/>
        </p:nvSpPr>
        <p:spPr>
          <a:xfrm>
            <a:off x="6134100" y="603227"/>
            <a:ext cx="6019800" cy="801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    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BB9B70-7CAA-886B-491D-D11EAE422A35}"/>
              </a:ext>
            </a:extLst>
          </p:cNvPr>
          <p:cNvSpPr/>
          <p:nvPr/>
        </p:nvSpPr>
        <p:spPr>
          <a:xfrm>
            <a:off x="9601200" y="6374309"/>
            <a:ext cx="6705600" cy="3171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self.__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nomor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self.__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tipe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self.__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harga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  <a:p>
            <a:pPr>
              <a:lnSpc>
                <a:spcPts val="6725"/>
              </a:lnSpc>
            </a:pP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self.__status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735B5-0B15-2C3A-D636-3440EC54B6B0}"/>
              </a:ext>
            </a:extLst>
          </p:cNvPr>
          <p:cNvSpPr txBox="1"/>
          <p:nvPr/>
        </p:nvSpPr>
        <p:spPr>
          <a:xfrm>
            <a:off x="10287000" y="5181600"/>
            <a:ext cx="601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latin typeface="Poppins Bold"/>
                <a:ea typeface="Poppins Bold"/>
                <a:cs typeface="Poppins Bold"/>
                <a:sym typeface="Poppins Bold"/>
              </a:rPr>
              <a:t>ENCAPSULATION</a:t>
            </a:r>
            <a:endParaRPr lang="en-US" sz="5400" b="1" dirty="0">
              <a:latin typeface="Poppins Bold"/>
              <a:ea typeface="Poppins Bold"/>
              <a:cs typeface="Poppins Bold"/>
              <a:sym typeface="Poppins Bold"/>
            </a:endParaRP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D11F14-7BE9-D51F-11DF-7618C6D8BD50}"/>
              </a:ext>
            </a:extLst>
          </p:cNvPr>
          <p:cNvSpPr txBox="1"/>
          <p:nvPr/>
        </p:nvSpPr>
        <p:spPr>
          <a:xfrm>
            <a:off x="1767840" y="6366689"/>
            <a:ext cx="6263640" cy="2519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diatas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ini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menunjukkan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bahwa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semua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menampilkan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data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dari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hotel yang di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sembunyikan</a:t>
            </a:r>
            <a:endParaRPr lang="en-US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63400" y="6573193"/>
            <a:ext cx="9144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self.__</a:t>
            </a:r>
            <a:r>
              <a:rPr lang="en-US" dirty="0" err="1"/>
              <a:t>nomor</a:t>
            </a:r>
            <a:r>
              <a:rPr lang="en-US" dirty="0"/>
              <a:t> = </a:t>
            </a:r>
            <a:r>
              <a:rPr lang="en-US" dirty="0" err="1"/>
              <a:t>nomor</a:t>
            </a:r>
            <a:r>
              <a:rPr lang="en-US" dirty="0"/>
              <a:t> # Private </a:t>
            </a:r>
            <a:r>
              <a:rPr lang="en-US" dirty="0" smtClean="0"/>
              <a:t>Attribute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@property</a:t>
            </a:r>
            <a:br>
              <a:rPr lang="en-US" dirty="0"/>
            </a:b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(self): # Getter</a:t>
            </a:r>
            <a:br>
              <a:rPr lang="en-US" dirty="0"/>
            </a:br>
            <a:r>
              <a:rPr lang="en-US" dirty="0"/>
              <a:t>return self.__</a:t>
            </a:r>
            <a:r>
              <a:rPr lang="en-US" dirty="0" err="1"/>
              <a:t>nomor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767840" y="1372039"/>
            <a:ext cx="30572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4000" b="1" dirty="0" smtClean="0">
                <a:latin typeface="Poppins Bold"/>
                <a:ea typeface="Poppins Bold"/>
                <a:cs typeface="Poppins Bold"/>
                <a:sym typeface="Poppins Bold"/>
              </a:rPr>
              <a:t>ABSTRAKSI</a:t>
            </a:r>
            <a:endParaRPr lang="en-US" sz="40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783029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D9E79-C281-E1F1-6C96-EACC20BD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26F645-78E0-4C8E-9A4F-A41AE09680AA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171EA6C-AA19-9633-6FB6-2FC66608EAB9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299277E-9866-77CF-8329-46C092421CB4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F7B627E-0058-1D90-C7EE-5B603B0FA9C6}"/>
              </a:ext>
            </a:extLst>
          </p:cNvPr>
          <p:cNvSpPr txBox="1"/>
          <p:nvPr/>
        </p:nvSpPr>
        <p:spPr>
          <a:xfrm>
            <a:off x="1422165" y="-526940"/>
            <a:ext cx="14423469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Inheritance</a:t>
            </a:r>
          </a:p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  <a:r>
              <a:rPr lang="en-US" sz="589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Pewarisan</a:t>
            </a: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8950F9-0E51-8151-35E9-709049BA827D}"/>
              </a:ext>
            </a:extLst>
          </p:cNvPr>
          <p:cNvSpPr txBox="1"/>
          <p:nvPr/>
        </p:nvSpPr>
        <p:spPr>
          <a:xfrm>
            <a:off x="2501864" y="6561753"/>
            <a:ext cx="9845040" cy="166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diatas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dibuat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menggunakan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konsep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pewarisan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sehingga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kode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lebih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rapi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dan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mudah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dikembangkan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F81C5-7529-BBFD-97A2-3D5BACECC926}"/>
              </a:ext>
            </a:extLst>
          </p:cNvPr>
          <p:cNvSpPr txBox="1"/>
          <p:nvPr/>
        </p:nvSpPr>
        <p:spPr>
          <a:xfrm>
            <a:off x="2819400" y="1892534"/>
            <a:ext cx="12875296" cy="4238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ItemHotel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 	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-Kamar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-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KamarStandard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KamarVIP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>
              <a:lnSpc>
                <a:spcPts val="6725"/>
              </a:lnSpc>
            </a:pP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KamarVIPGold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1CEF4D-594A-EC3E-5F20-3BE357123607}"/>
              </a:ext>
            </a:extLst>
          </p:cNvPr>
          <p:cNvCxnSpPr>
            <a:cxnSpLocks/>
          </p:cNvCxnSpPr>
          <p:nvPr/>
        </p:nvCxnSpPr>
        <p:spPr>
          <a:xfrm>
            <a:off x="3480429" y="270174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09D866-4B3B-AA2F-1308-FFE098DDE40D}"/>
              </a:ext>
            </a:extLst>
          </p:cNvPr>
          <p:cNvCxnSpPr>
            <a:cxnSpLocks/>
          </p:cNvCxnSpPr>
          <p:nvPr/>
        </p:nvCxnSpPr>
        <p:spPr>
          <a:xfrm>
            <a:off x="3556629" y="351522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A019C2-ABF8-8682-8576-3E6A13FABE67}"/>
              </a:ext>
            </a:extLst>
          </p:cNvPr>
          <p:cNvCxnSpPr>
            <a:cxnSpLocks/>
          </p:cNvCxnSpPr>
          <p:nvPr/>
        </p:nvCxnSpPr>
        <p:spPr>
          <a:xfrm>
            <a:off x="3556629" y="5272939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A3A6B98-1547-BD23-B43B-B9D8510D8CE0}"/>
              </a:ext>
            </a:extLst>
          </p:cNvPr>
          <p:cNvSpPr/>
          <p:nvPr/>
        </p:nvSpPr>
        <p:spPr>
          <a:xfrm>
            <a:off x="6476999" y="2177885"/>
            <a:ext cx="10972799" cy="4653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def update_status_kamar(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self,nomor,status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kamar = self.cari_kamar(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nomor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)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if not kamar: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raise DataTidakDitemukanError(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    "Kamar tidak ditemukan"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    )</a:t>
            </a:r>
          </a:p>
          <a:p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   kamar.status = status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192000" y="2401644"/>
            <a:ext cx="4495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class </a:t>
            </a:r>
            <a:r>
              <a:rPr lang="en-US" sz="2000" dirty="0" err="1"/>
              <a:t>ItemHotel</a:t>
            </a:r>
            <a:r>
              <a:rPr lang="en-US" sz="2000" dirty="0"/>
              <a:t>(ABC): # Level 1 (Abstract)</a:t>
            </a:r>
            <a:br>
              <a:rPr lang="en-US" sz="2000" dirty="0"/>
            </a:br>
            <a:r>
              <a:rPr lang="en-US" sz="2000" dirty="0"/>
              <a:t>class </a:t>
            </a:r>
            <a:r>
              <a:rPr lang="en-US" sz="2000" dirty="0" err="1"/>
              <a:t>Kamar</a:t>
            </a:r>
            <a:r>
              <a:rPr lang="en-US" sz="2000" dirty="0"/>
              <a:t>(</a:t>
            </a:r>
            <a:r>
              <a:rPr lang="en-US" sz="2000" dirty="0" err="1"/>
              <a:t>ItemHotel</a:t>
            </a:r>
            <a:r>
              <a:rPr lang="en-US" sz="2000" dirty="0"/>
              <a:t>): # Level 1</a:t>
            </a:r>
            <a:br>
              <a:rPr lang="en-US" sz="2000" dirty="0"/>
            </a:br>
            <a:r>
              <a:rPr lang="en-US" sz="2000" dirty="0"/>
              <a:t>class </a:t>
            </a:r>
            <a:r>
              <a:rPr lang="en-US" sz="2000" dirty="0" err="1"/>
              <a:t>KamarStandard</a:t>
            </a:r>
            <a:r>
              <a:rPr lang="en-US" sz="2000" dirty="0"/>
              <a:t>(</a:t>
            </a:r>
            <a:r>
              <a:rPr lang="en-US" sz="2000" dirty="0" err="1"/>
              <a:t>Kamar</a:t>
            </a:r>
            <a:r>
              <a:rPr lang="en-US" sz="2000" dirty="0"/>
              <a:t>): # Level 2</a:t>
            </a:r>
            <a:br>
              <a:rPr lang="en-US" sz="2000" dirty="0"/>
            </a:br>
            <a:r>
              <a:rPr lang="en-US" sz="2000" dirty="0"/>
              <a:t>class </a:t>
            </a:r>
            <a:r>
              <a:rPr lang="en-US" sz="2000" dirty="0" err="1"/>
              <a:t>KamarVIP</a:t>
            </a:r>
            <a:r>
              <a:rPr lang="en-US" sz="2000" dirty="0"/>
              <a:t>(</a:t>
            </a:r>
            <a:r>
              <a:rPr lang="en-US" sz="2000" dirty="0" err="1"/>
              <a:t>Kamar</a:t>
            </a:r>
            <a:r>
              <a:rPr lang="en-US" sz="2000" dirty="0"/>
              <a:t>): # Level 2</a:t>
            </a:r>
            <a:br>
              <a:rPr lang="en-US" sz="2000" dirty="0"/>
            </a:br>
            <a:r>
              <a:rPr lang="en-US" sz="2000" dirty="0"/>
              <a:t>class </a:t>
            </a:r>
            <a:r>
              <a:rPr lang="en-US" sz="2000" dirty="0" err="1"/>
              <a:t>KamarVIPGold</a:t>
            </a:r>
            <a:r>
              <a:rPr lang="en-US" sz="2000" dirty="0"/>
              <a:t>(</a:t>
            </a:r>
            <a:r>
              <a:rPr lang="en-US" sz="2000" dirty="0" err="1"/>
              <a:t>KamarVIP</a:t>
            </a:r>
            <a:r>
              <a:rPr lang="en-US" sz="2000" dirty="0"/>
              <a:t>): # Level 3 (Inheritance 3 Level)</a:t>
            </a:r>
          </a:p>
        </p:txBody>
      </p:sp>
    </p:spTree>
    <p:extLst>
      <p:ext uri="{BB962C8B-B14F-4D97-AF65-F5344CB8AC3E}">
        <p14:creationId xmlns:p14="http://schemas.microsoft.com/office/powerpoint/2010/main" val="390065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276509">
            <a:off x="-3351433" y="-2112438"/>
            <a:ext cx="13735626" cy="15889606"/>
          </a:xfrm>
          <a:custGeom>
            <a:avLst/>
            <a:gdLst/>
            <a:ahLst/>
            <a:cxnLst/>
            <a:rect l="l" t="t" r="r" b="b"/>
            <a:pathLst>
              <a:path w="19689775" h="10804764">
                <a:moveTo>
                  <a:pt x="0" y="0"/>
                </a:moveTo>
                <a:lnTo>
                  <a:pt x="19689775" y="0"/>
                </a:lnTo>
                <a:lnTo>
                  <a:pt x="19689775" y="10804764"/>
                </a:lnTo>
                <a:lnTo>
                  <a:pt x="0" y="10804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616091">
            <a:off x="-293793" y="8471069"/>
            <a:ext cx="2644985" cy="2644985"/>
          </a:xfrm>
          <a:custGeom>
            <a:avLst/>
            <a:gdLst/>
            <a:ahLst/>
            <a:cxnLst/>
            <a:rect l="l" t="t" r="r" b="b"/>
            <a:pathLst>
              <a:path w="2644985" h="2644985">
                <a:moveTo>
                  <a:pt x="0" y="0"/>
                </a:moveTo>
                <a:lnTo>
                  <a:pt x="2644986" y="0"/>
                </a:lnTo>
                <a:lnTo>
                  <a:pt x="2644986" y="2644985"/>
                </a:lnTo>
                <a:lnTo>
                  <a:pt x="0" y="264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2538083"/>
            <a:ext cx="4860130" cy="455637"/>
          </a:xfrm>
          <a:custGeom>
            <a:avLst/>
            <a:gdLst/>
            <a:ahLst/>
            <a:cxnLst/>
            <a:rect l="l" t="t" r="r" b="b"/>
            <a:pathLst>
              <a:path w="4860130" h="455637">
                <a:moveTo>
                  <a:pt x="0" y="0"/>
                </a:moveTo>
                <a:lnTo>
                  <a:pt x="4860130" y="0"/>
                </a:lnTo>
                <a:lnTo>
                  <a:pt x="4860130" y="455637"/>
                </a:lnTo>
                <a:lnTo>
                  <a:pt x="0" y="455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47388" y="1530290"/>
            <a:ext cx="10528799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18"/>
              </a:lnSpc>
            </a:pPr>
            <a:r>
              <a:rPr lang="en-US" sz="632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MIXINS - </a:t>
            </a:r>
            <a:r>
              <a:rPr lang="en-US" sz="66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ValidationMixin</a:t>
            </a:r>
            <a:endParaRPr lang="en-US" sz="6326" b="1" dirty="0">
              <a:solidFill>
                <a:schemeClr val="bg1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295945" y="3394682"/>
            <a:ext cx="3496346" cy="614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55"/>
              </a:lnSpc>
            </a:pPr>
            <a:r>
              <a:rPr lang="en-US" sz="398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LoggingMixin</a:t>
            </a:r>
            <a:endParaRPr lang="en-US" sz="398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086608" y="8685063"/>
            <a:ext cx="417269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4"/>
              </a:lnSpc>
            </a:pPr>
            <a:r>
              <a:rPr lang="en-US" sz="2074" spc="6" dirty="0">
                <a:solidFill>
                  <a:srgbClr val="2B4284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8CC03B-9CDC-6EE0-C94B-58F91CB0B11A}"/>
              </a:ext>
            </a:extLst>
          </p:cNvPr>
          <p:cNvSpPr/>
          <p:nvPr/>
        </p:nvSpPr>
        <p:spPr>
          <a:xfrm>
            <a:off x="-533400" y="4409851"/>
            <a:ext cx="4191000" cy="21724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98ED2-CF3A-0BA4-FF7F-14AF159B951B}"/>
              </a:ext>
            </a:extLst>
          </p:cNvPr>
          <p:cNvSpPr txBox="1"/>
          <p:nvPr/>
        </p:nvSpPr>
        <p:spPr>
          <a:xfrm>
            <a:off x="-533401" y="4561426"/>
            <a:ext cx="857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def log(self,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pesan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335954-6781-D06C-584F-18541AE06B4C}"/>
              </a:ext>
            </a:extLst>
          </p:cNvPr>
          <p:cNvSpPr txBox="1"/>
          <p:nvPr/>
        </p:nvSpPr>
        <p:spPr>
          <a:xfrm>
            <a:off x="-990600" y="7223452"/>
            <a:ext cx="487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MIXINS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digunakan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/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berfungsi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mencatat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aktivitas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sistem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30C6B3-B4D7-38D3-5A36-A65A4569D0FF}"/>
              </a:ext>
            </a:extLst>
          </p:cNvPr>
          <p:cNvSpPr/>
          <p:nvPr/>
        </p:nvSpPr>
        <p:spPr>
          <a:xfrm>
            <a:off x="4545638" y="4409851"/>
            <a:ext cx="4191000" cy="21724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253025-D5C2-E467-8150-5102D3141775}"/>
              </a:ext>
            </a:extLst>
          </p:cNvPr>
          <p:cNvSpPr txBox="1"/>
          <p:nvPr/>
        </p:nvSpPr>
        <p:spPr>
          <a:xfrm>
            <a:off x="4545637" y="4561426"/>
            <a:ext cx="857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def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validasi_nomor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(self,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nomor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C68008-C4D8-2DD8-0BC4-14C42C27D2C2}"/>
              </a:ext>
            </a:extLst>
          </p:cNvPr>
          <p:cNvSpPr txBox="1"/>
          <p:nvPr/>
        </p:nvSpPr>
        <p:spPr>
          <a:xfrm>
            <a:off x="4530397" y="3349958"/>
            <a:ext cx="10881360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sz="390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ValidationMixin</a:t>
            </a:r>
            <a:endParaRPr lang="en-US" sz="39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D7033-FBE1-67F5-D0CD-CCB9B2166757}"/>
              </a:ext>
            </a:extLst>
          </p:cNvPr>
          <p:cNvSpPr txBox="1"/>
          <p:nvPr/>
        </p:nvSpPr>
        <p:spPr>
          <a:xfrm>
            <a:off x="4435672" y="7223451"/>
            <a:ext cx="4395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MIXINS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digunakan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/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berfungsi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memvalidasi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nomor</a:t>
            </a:r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kamar</a:t>
            </a:r>
            <a:endParaRPr lang="en-US" dirty="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3C324E53-D2E3-39EE-23B3-725F4E702BA9}"/>
              </a:ext>
            </a:extLst>
          </p:cNvPr>
          <p:cNvSpPr/>
          <p:nvPr/>
        </p:nvSpPr>
        <p:spPr>
          <a:xfrm>
            <a:off x="13259511" y="1220733"/>
            <a:ext cx="3431732" cy="2998475"/>
          </a:xfrm>
          <a:custGeom>
            <a:avLst/>
            <a:gdLst/>
            <a:ahLst/>
            <a:cxnLst/>
            <a:rect l="l" t="t" r="r" b="b"/>
            <a:pathLst>
              <a:path w="3431732" h="2998475">
                <a:moveTo>
                  <a:pt x="0" y="0"/>
                </a:moveTo>
                <a:lnTo>
                  <a:pt x="3431732" y="0"/>
                </a:lnTo>
                <a:lnTo>
                  <a:pt x="3431732" y="2998475"/>
                </a:lnTo>
                <a:lnTo>
                  <a:pt x="0" y="2998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27FFC49E-4BF9-F201-D7B4-1B9DA1B285E3}"/>
              </a:ext>
            </a:extLst>
          </p:cNvPr>
          <p:cNvSpPr/>
          <p:nvPr/>
        </p:nvSpPr>
        <p:spPr>
          <a:xfrm>
            <a:off x="13259511" y="5919312"/>
            <a:ext cx="3879825" cy="2938967"/>
          </a:xfrm>
          <a:custGeom>
            <a:avLst/>
            <a:gdLst/>
            <a:ahLst/>
            <a:cxnLst/>
            <a:rect l="l" t="t" r="r" b="b"/>
            <a:pathLst>
              <a:path w="3879825" h="2938967">
                <a:moveTo>
                  <a:pt x="0" y="0"/>
                </a:moveTo>
                <a:lnTo>
                  <a:pt x="3879825" y="0"/>
                </a:lnTo>
                <a:lnTo>
                  <a:pt x="3879825" y="2938967"/>
                </a:lnTo>
                <a:lnTo>
                  <a:pt x="0" y="29389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" name="Rectangle 2"/>
          <p:cNvSpPr/>
          <p:nvPr/>
        </p:nvSpPr>
        <p:spPr>
          <a:xfrm>
            <a:off x="511372" y="8084898"/>
            <a:ext cx="7848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8956223" y="4295581"/>
            <a:ext cx="480352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LoggingMixin</a:t>
            </a:r>
            <a:r>
              <a:rPr lang="en-US" sz="2800" dirty="0"/>
              <a:t>⁠ </a:t>
            </a:r>
            <a:r>
              <a:rPr lang="en-US" sz="2800" dirty="0" err="1"/>
              <a:t>dipakai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mencetak</a:t>
            </a:r>
            <a:r>
              <a:rPr lang="en-US" sz="2800" dirty="0"/>
              <a:t> </a:t>
            </a:r>
            <a:r>
              <a:rPr lang="en-US" sz="2800" dirty="0" err="1"/>
              <a:t>riwayat</a:t>
            </a:r>
            <a:r>
              <a:rPr lang="en-US" sz="2800" dirty="0"/>
              <a:t> </a:t>
            </a:r>
            <a:r>
              <a:rPr lang="en-US" sz="2800" dirty="0" err="1"/>
              <a:t>aksi</a:t>
            </a:r>
            <a:r>
              <a:rPr lang="en-US" sz="2800" dirty="0"/>
              <a:t> </a:t>
            </a:r>
            <a:r>
              <a:rPr lang="en-US" sz="2800" dirty="0" err="1"/>
              <a:t>sistem</a:t>
            </a:r>
            <a:r>
              <a:rPr lang="en-US" sz="2800" dirty="0"/>
              <a:t> (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saat</a:t>
            </a:r>
            <a:r>
              <a:rPr lang="en-US" sz="2800" dirty="0"/>
              <a:t> </a:t>
            </a:r>
            <a:r>
              <a:rPr lang="en-US" sz="2800" dirty="0" err="1"/>
              <a:t>kamar</a:t>
            </a:r>
            <a:r>
              <a:rPr lang="en-US" sz="2800" dirty="0"/>
              <a:t> </a:t>
            </a:r>
            <a:r>
              <a:rPr lang="en-US" sz="2800" dirty="0" err="1"/>
              <a:t>ditambah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di-booking), </a:t>
            </a:r>
            <a:r>
              <a:rPr lang="en-US" sz="2800" dirty="0" err="1"/>
              <a:t>sedangkan</a:t>
            </a:r>
            <a:r>
              <a:rPr lang="en-US" sz="2800" dirty="0"/>
              <a:t> ⁠</a:t>
            </a:r>
            <a:r>
              <a:rPr lang="en-US" sz="2800" dirty="0" err="1"/>
              <a:t>ValidationMixin</a:t>
            </a:r>
            <a:r>
              <a:rPr lang="en-US" sz="2800" dirty="0"/>
              <a:t>⁠ </a:t>
            </a:r>
            <a:r>
              <a:rPr lang="en-US" sz="2800" dirty="0" err="1"/>
              <a:t>dipakai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memastikan</a:t>
            </a:r>
            <a:r>
              <a:rPr lang="en-US" sz="2800" dirty="0"/>
              <a:t> </a:t>
            </a:r>
            <a:r>
              <a:rPr lang="en-US" sz="2800" dirty="0" err="1"/>
              <a:t>nomor</a:t>
            </a:r>
            <a:r>
              <a:rPr lang="en-US" sz="2800" dirty="0"/>
              <a:t> </a:t>
            </a:r>
            <a:r>
              <a:rPr lang="en-US" sz="2800" dirty="0" err="1"/>
              <a:t>kamar</a:t>
            </a:r>
            <a:r>
              <a:rPr lang="en-US" sz="2800" dirty="0"/>
              <a:t> yang </a:t>
            </a:r>
            <a:r>
              <a:rPr lang="en-US" sz="2800" dirty="0" err="1"/>
              <a:t>diinput</a:t>
            </a:r>
            <a:r>
              <a:rPr lang="en-US" sz="2800" dirty="0"/>
              <a:t> minimal 3 </a:t>
            </a:r>
            <a:r>
              <a:rPr lang="en-US" sz="2800" dirty="0" err="1"/>
              <a:t>karakter</a:t>
            </a:r>
            <a:r>
              <a:rPr lang="en-US" sz="28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011" y="8381193"/>
            <a:ext cx="9144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class Hotel(</a:t>
            </a:r>
            <a:r>
              <a:rPr lang="en-US" sz="2400" dirty="0" err="1"/>
              <a:t>LoggingMixin</a:t>
            </a:r>
            <a:r>
              <a:rPr lang="en-US" sz="2400" dirty="0"/>
              <a:t>, </a:t>
            </a:r>
            <a:r>
              <a:rPr lang="en-US" sz="2400" dirty="0" err="1"/>
              <a:t>ValidationMixin</a:t>
            </a:r>
            <a:r>
              <a:rPr lang="en-US" sz="2400" dirty="0"/>
              <a:t>):</a:t>
            </a:r>
            <a:br>
              <a:rPr lang="en-US" sz="2400" dirty="0"/>
            </a:br>
            <a:r>
              <a:rPr lang="en-US" sz="2400" dirty="0"/>
              <a:t># </a:t>
            </a:r>
            <a:r>
              <a:rPr lang="en-US" sz="2400" dirty="0" err="1"/>
              <a:t>Kelas</a:t>
            </a:r>
            <a:r>
              <a:rPr lang="en-US" sz="2400" dirty="0"/>
              <a:t> Hotel </a:t>
            </a:r>
            <a:r>
              <a:rPr lang="en-US" sz="2400" dirty="0" err="1"/>
              <a:t>sekarang</a:t>
            </a:r>
            <a:r>
              <a:rPr lang="en-US" sz="2400" dirty="0"/>
              <a:t> </a:t>
            </a:r>
            <a:r>
              <a:rPr lang="en-US" sz="2400" dirty="0" err="1"/>
              <a:t>otomatis</a:t>
            </a:r>
            <a:r>
              <a:rPr lang="en-US" sz="2400" dirty="0"/>
              <a:t> </a:t>
            </a:r>
            <a:r>
              <a:rPr lang="en-US" sz="2400" dirty="0" err="1"/>
              <a:t>punya</a:t>
            </a:r>
            <a:r>
              <a:rPr lang="en-US" sz="2400" dirty="0"/>
              <a:t> </a:t>
            </a:r>
            <a:r>
              <a:rPr lang="en-US" sz="2400" dirty="0" err="1"/>
              <a:t>kemampuan</a:t>
            </a:r>
            <a:r>
              <a:rPr lang="en-US" sz="2400" dirty="0"/>
              <a:t> </a:t>
            </a:r>
            <a:r>
              <a:rPr lang="en-US" sz="2400" dirty="0" err="1"/>
              <a:t>nge</a:t>
            </a:r>
            <a:r>
              <a:rPr lang="en-US" sz="2400" dirty="0"/>
              <a:t>-log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validasi</a:t>
            </a:r>
            <a:r>
              <a:rPr lang="en-US" sz="2400" dirty="0"/>
              <a:t> </a:t>
            </a:r>
            <a:r>
              <a:rPr lang="en-US" sz="2400" dirty="0" err="1"/>
              <a:t>nomor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432A3-27D2-7831-6BD3-B760D3A24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354EE0-B21B-36B1-3D66-C228FB3DB948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AFAD52C-F159-EA98-5934-96A62B3E8088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00808E6-5E47-EC20-A4C2-E8CED08BE0C7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62E6987-3B4E-9A65-6BB6-65114A2BF8E3}"/>
              </a:ext>
            </a:extLst>
          </p:cNvPr>
          <p:cNvSpPr txBox="1"/>
          <p:nvPr/>
        </p:nvSpPr>
        <p:spPr>
          <a:xfrm>
            <a:off x="1422165" y="-120195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State Machine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A1770-9CC5-A82D-2DA8-759963B33951}"/>
              </a:ext>
            </a:extLst>
          </p:cNvPr>
          <p:cNvSpPr txBox="1"/>
          <p:nvPr/>
        </p:nvSpPr>
        <p:spPr>
          <a:xfrm>
            <a:off x="2471384" y="7224740"/>
            <a:ext cx="9845040" cy="166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Pada State Machine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diatas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dibuat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untuk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mengatur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status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kamar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agar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sesuai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alur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1" dirty="0" err="1">
                <a:latin typeface="Poppins Bold"/>
                <a:ea typeface="Poppins Bold"/>
                <a:cs typeface="Poppins Bold"/>
                <a:sym typeface="Poppins Bold"/>
              </a:rPr>
              <a:t>bisnis</a:t>
            </a: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hotel.</a:t>
            </a:r>
            <a:endParaRPr lang="en-US" sz="18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3625B-B45A-255B-6130-7CD7AC59682A}"/>
              </a:ext>
            </a:extLst>
          </p:cNvPr>
          <p:cNvSpPr txBox="1"/>
          <p:nvPr/>
        </p:nvSpPr>
        <p:spPr>
          <a:xfrm>
            <a:off x="2819400" y="1892534"/>
            <a:ext cx="12875296" cy="5097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TERSEDIA 	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BOOKING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DI BOOKING (CHECK IN)</a:t>
            </a:r>
          </a:p>
          <a:p>
            <a:pPr>
              <a:lnSpc>
                <a:spcPts val="6725"/>
              </a:lnSpc>
            </a:pPr>
            <a:r>
              <a:rPr lang="en-US" b="1" dirty="0">
                <a:latin typeface="Poppins Bold"/>
                <a:ea typeface="Poppins Bold"/>
                <a:cs typeface="Poppins Bold"/>
                <a:sym typeface="Poppins Bold"/>
              </a:rPr>
              <a:t> DI TEMPATI ( CHECK OUT) </a:t>
            </a:r>
          </a:p>
          <a:p>
            <a:pPr>
              <a:lnSpc>
                <a:spcPts val="6725"/>
              </a:lnSpc>
            </a:pPr>
            <a:r>
              <a:rPr lang="en-US" sz="1800" b="1" dirty="0">
                <a:latin typeface="Poppins Bold"/>
                <a:ea typeface="Poppins Bold"/>
                <a:cs typeface="Poppins Bold"/>
                <a:sym typeface="Poppins Bold"/>
              </a:rPr>
              <a:t>CHECK OUT </a:t>
            </a:r>
          </a:p>
          <a:p>
            <a:pPr>
              <a:lnSpc>
                <a:spcPts val="6725"/>
              </a:lnSpc>
            </a:pPr>
            <a:r>
              <a:rPr lang="en-US" sz="1800" b="1" dirty="0">
                <a:latin typeface="Poppins Bold"/>
                <a:ea typeface="Poppins Bold"/>
                <a:cs typeface="Poppins Bold"/>
                <a:sym typeface="Poppins Bold"/>
              </a:rPr>
              <a:t>TERSEDIA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6191FB-2FDA-0250-BED7-25D26DB4274C}"/>
              </a:ext>
            </a:extLst>
          </p:cNvPr>
          <p:cNvCxnSpPr>
            <a:cxnSpLocks/>
          </p:cNvCxnSpPr>
          <p:nvPr/>
        </p:nvCxnSpPr>
        <p:spPr>
          <a:xfrm>
            <a:off x="3480429" y="270174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DEC7EC-491C-3BE3-55F6-D09023BD4595}"/>
              </a:ext>
            </a:extLst>
          </p:cNvPr>
          <p:cNvCxnSpPr>
            <a:cxnSpLocks/>
          </p:cNvCxnSpPr>
          <p:nvPr/>
        </p:nvCxnSpPr>
        <p:spPr>
          <a:xfrm>
            <a:off x="3556629" y="3515226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EF0FA1-6B67-590C-0C57-1AF54C8C1B47}"/>
              </a:ext>
            </a:extLst>
          </p:cNvPr>
          <p:cNvCxnSpPr>
            <a:cxnSpLocks/>
          </p:cNvCxnSpPr>
          <p:nvPr/>
        </p:nvCxnSpPr>
        <p:spPr>
          <a:xfrm>
            <a:off x="3556629" y="5272939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6F1A1EF-745E-8E3B-035C-7F2474A1A360}"/>
              </a:ext>
            </a:extLst>
          </p:cNvPr>
          <p:cNvSpPr/>
          <p:nvPr/>
        </p:nvSpPr>
        <p:spPr>
          <a:xfrm>
            <a:off x="6476999" y="2177885"/>
            <a:ext cx="10972799" cy="4653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05B873B-C035-DA7B-5CC5-D4D5C77DB22D}"/>
              </a:ext>
            </a:extLst>
          </p:cNvPr>
          <p:cNvCxnSpPr>
            <a:cxnSpLocks/>
          </p:cNvCxnSpPr>
          <p:nvPr/>
        </p:nvCxnSpPr>
        <p:spPr>
          <a:xfrm>
            <a:off x="3556629" y="6134100"/>
            <a:ext cx="0" cy="4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37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D1419-A4C2-4437-223A-0A5CE3CF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E8FDBDE-4B7B-B73E-7496-09B1B4D6E792}"/>
              </a:ext>
            </a:extLst>
          </p:cNvPr>
          <p:cNvSpPr/>
          <p:nvPr/>
        </p:nvSpPr>
        <p:spPr>
          <a:xfrm>
            <a:off x="7406529" y="5173827"/>
            <a:ext cx="4250710" cy="2788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/>
              <a:t>def</a:t>
            </a:r>
            <a:r>
              <a:rPr lang="en-US" sz="2400" dirty="0"/>
              <a:t> </a:t>
            </a:r>
            <a:r>
              <a:rPr lang="en-US" sz="2400" dirty="0" err="1"/>
              <a:t>generate_report</a:t>
            </a:r>
            <a:r>
              <a:rPr lang="en-US" sz="2400" dirty="0"/>
              <a:t>(self, strategy):</a:t>
            </a:r>
            <a:br>
              <a:rPr lang="en-US" sz="2400" dirty="0"/>
            </a:br>
            <a:r>
              <a:rPr lang="en-US" sz="2400" dirty="0" err="1"/>
              <a:t>strategy.generate</a:t>
            </a:r>
            <a:r>
              <a:rPr lang="en-US" sz="2400" dirty="0"/>
              <a:t>(data) # </a:t>
            </a:r>
            <a:r>
              <a:rPr lang="en-US" sz="2400" dirty="0" err="1"/>
              <a:t>Polimorfis</a:t>
            </a:r>
            <a:r>
              <a:rPr lang="en-US" sz="2400" dirty="0"/>
              <a:t>: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jadi</a:t>
            </a:r>
            <a:r>
              <a:rPr lang="en-US" sz="2400" dirty="0"/>
              <a:t> PDF, TXT, </a:t>
            </a:r>
            <a:r>
              <a:rPr lang="en-US" sz="2400" dirty="0" err="1"/>
              <a:t>atau</a:t>
            </a:r>
            <a:r>
              <a:rPr lang="en-US" sz="2400" dirty="0"/>
              <a:t> JSON</a:t>
            </a:r>
            <a:endParaRPr lang="en-US" sz="2400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DE4C8CF-AE54-7BE5-59FD-03EF10223A82}"/>
              </a:ext>
            </a:extLst>
          </p:cNvPr>
          <p:cNvSpPr/>
          <p:nvPr/>
        </p:nvSpPr>
        <p:spPr>
          <a:xfrm>
            <a:off x="-3263232" y="151062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882ADDB-5CD9-A5B8-25D7-C39EB18E3FF6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DCCF6C0-9B77-01C8-8971-2EF76ADBC102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89FD5C1-321E-6078-7F08-DD0017A17C7B}"/>
              </a:ext>
            </a:extLst>
          </p:cNvPr>
          <p:cNvSpPr txBox="1"/>
          <p:nvPr/>
        </p:nvSpPr>
        <p:spPr>
          <a:xfrm>
            <a:off x="1422165" y="-120195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Operator Overloading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8FDBDE-4B7B-B73E-7496-09B1B4D6E792}"/>
              </a:ext>
            </a:extLst>
          </p:cNvPr>
          <p:cNvSpPr/>
          <p:nvPr/>
        </p:nvSpPr>
        <p:spPr>
          <a:xfrm>
            <a:off x="1007092" y="2089957"/>
            <a:ext cx="6155708" cy="1535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__str__()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__eq__()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__lt__()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__gt__()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__len__()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4D5DE5-C800-6580-3587-C2B7FC627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72201"/>
              </p:ext>
            </p:extLst>
          </p:nvPr>
        </p:nvGraphicFramePr>
        <p:xfrm>
          <a:off x="533400" y="4965978"/>
          <a:ext cx="4953000" cy="371856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383402878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054442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Kegunaan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866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__str__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Menampilkan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nama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32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__eq__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Membandingkan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907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__lt__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lebih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kecil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04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  <a:r>
                        <a:rPr lang="en-US" sz="24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gt</a:t>
                      </a: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lebih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besar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64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  <a:r>
                        <a:rPr lang="en-US" sz="24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len</a:t>
                      </a:r>
                      <a:r>
                        <a:rPr lang="en-US" sz="2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Panjang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nomor</a:t>
                      </a:r>
                      <a:r>
                        <a:rPr lang="en-US" sz="20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kamar</a:t>
                      </a:r>
                      <a:endParaRPr lang="en-US" sz="20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339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4D185E9-FC04-0663-3307-704F250F3E1E}"/>
              </a:ext>
            </a:extLst>
          </p:cNvPr>
          <p:cNvSpPr txBox="1"/>
          <p:nvPr/>
        </p:nvSpPr>
        <p:spPr>
          <a:xfrm>
            <a:off x="838200" y="4061993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Kode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diatas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operator yang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digunakan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kelas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kamar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D1B2A-FEFC-DE95-7799-AD46B6688CF5}"/>
              </a:ext>
            </a:extLst>
          </p:cNvPr>
          <p:cNvSpPr txBox="1"/>
          <p:nvPr/>
        </p:nvSpPr>
        <p:spPr>
          <a:xfrm>
            <a:off x="10972800" y="364664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Poppins" panose="00000500000000000000" pitchFamily="2" charset="0"/>
                <a:cs typeface="Poppins" panose="00000500000000000000" pitchFamily="2" charset="0"/>
              </a:rPr>
              <a:t>Strategy Pattern</a:t>
            </a:r>
            <a:endParaRPr lang="en-US" sz="3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6E0073-A4FB-8E68-DE79-FC9B83DBF632}"/>
              </a:ext>
            </a:extLst>
          </p:cNvPr>
          <p:cNvSpPr txBox="1"/>
          <p:nvPr/>
        </p:nvSpPr>
        <p:spPr>
          <a:xfrm>
            <a:off x="11934904" y="4965978"/>
            <a:ext cx="203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Report Strategy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B5D677-B00E-9357-6178-998B82E4E2C4}"/>
              </a:ext>
            </a:extLst>
          </p:cNvPr>
          <p:cNvCxnSpPr>
            <a:cxnSpLocks/>
          </p:cNvCxnSpPr>
          <p:nvPr/>
        </p:nvCxnSpPr>
        <p:spPr>
          <a:xfrm>
            <a:off x="12954000" y="5372100"/>
            <a:ext cx="0" cy="2160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2DB5FA-4E8A-3847-5B90-BB4777BD9A91}"/>
              </a:ext>
            </a:extLst>
          </p:cNvPr>
          <p:cNvCxnSpPr>
            <a:cxnSpLocks/>
          </p:cNvCxnSpPr>
          <p:nvPr/>
        </p:nvCxnSpPr>
        <p:spPr>
          <a:xfrm>
            <a:off x="12954000" y="64389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68CFF9-ECDE-22FA-AFA8-E3A4320EEA3D}"/>
              </a:ext>
            </a:extLst>
          </p:cNvPr>
          <p:cNvCxnSpPr>
            <a:cxnSpLocks/>
          </p:cNvCxnSpPr>
          <p:nvPr/>
        </p:nvCxnSpPr>
        <p:spPr>
          <a:xfrm>
            <a:off x="12954000" y="7532132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F77C40-FE6F-725E-563D-65B315BDCACC}"/>
              </a:ext>
            </a:extLst>
          </p:cNvPr>
          <p:cNvSpPr txBox="1"/>
          <p:nvPr/>
        </p:nvSpPr>
        <p:spPr>
          <a:xfrm>
            <a:off x="13335000" y="5533251"/>
            <a:ext cx="1657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TXTReport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583C7E-934A-DEC0-6DCA-2300E7BDECAD}"/>
              </a:ext>
            </a:extLst>
          </p:cNvPr>
          <p:cNvSpPr txBox="1"/>
          <p:nvPr/>
        </p:nvSpPr>
        <p:spPr>
          <a:xfrm>
            <a:off x="13334999" y="6254710"/>
            <a:ext cx="1657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JSONReport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D65F9A-2030-1BB9-AD72-BC6C17A5A000}"/>
              </a:ext>
            </a:extLst>
          </p:cNvPr>
          <p:cNvSpPr txBox="1"/>
          <p:nvPr/>
        </p:nvSpPr>
        <p:spPr>
          <a:xfrm>
            <a:off x="13334999" y="7339369"/>
            <a:ext cx="1657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PDFReport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3BC9F0-47F6-EBCA-C488-96C4C9C9B8DE}"/>
              </a:ext>
            </a:extLst>
          </p:cNvPr>
          <p:cNvCxnSpPr>
            <a:cxnSpLocks/>
          </p:cNvCxnSpPr>
          <p:nvPr/>
        </p:nvCxnSpPr>
        <p:spPr>
          <a:xfrm>
            <a:off x="12954000" y="5710297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E753B1A-C5BD-B6D0-7771-BC364E1CE87F}"/>
              </a:ext>
            </a:extLst>
          </p:cNvPr>
          <p:cNvSpPr txBox="1"/>
          <p:nvPr/>
        </p:nvSpPr>
        <p:spPr>
          <a:xfrm>
            <a:off x="10477499" y="8117056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StrategyPattern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format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laporan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diganti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tanpa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mengubah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582400" y="1126652"/>
            <a:ext cx="46100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id-ID" sz="3600" b="1" dirty="0" smtClean="0">
                <a:latin typeface="Poppins" panose="00000500000000000000" pitchFamily="2" charset="0"/>
                <a:cs typeface="Poppins" panose="00000500000000000000" pitchFamily="2" charset="0"/>
              </a:rPr>
              <a:t>POLIMERFISME</a:t>
            </a:r>
            <a:endParaRPr lang="en-US" sz="3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22261" y="1725715"/>
            <a:ext cx="73751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latin typeface="Poppins" panose="00000500000000000000" pitchFamily="2" charset="0"/>
                <a:cs typeface="Poppins" panose="00000500000000000000" pitchFamily="2" charset="0"/>
              </a:rPr>
              <a:t>Jadi di sini pada uml, polimerfise berada di kedua tempat ini yang pertama ada di operator overloading dan strategi patern, dan juga pada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96784" y="2202531"/>
            <a:ext cx="449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def</a:t>
            </a:r>
            <a:r>
              <a:rPr lang="en-US" sz="2400" dirty="0"/>
              <a:t> __</a:t>
            </a:r>
            <a:r>
              <a:rPr lang="en-US" sz="2400" dirty="0" err="1"/>
              <a:t>lt</a:t>
            </a:r>
            <a:r>
              <a:rPr lang="en-US" sz="2400" dirty="0"/>
              <a:t>__(self, other): # </a:t>
            </a:r>
            <a:r>
              <a:rPr lang="en-US" sz="2400" dirty="0" err="1"/>
              <a:t>Mengubah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operator '&lt;'</a:t>
            </a:r>
            <a:br>
              <a:rPr lang="en-US" sz="2400" dirty="0"/>
            </a:br>
            <a:r>
              <a:rPr lang="en-US" sz="2400" dirty="0"/>
              <a:t>return </a:t>
            </a:r>
            <a:r>
              <a:rPr lang="en-US" sz="2400" dirty="0" err="1"/>
              <a:t>self.nomor</a:t>
            </a:r>
            <a:r>
              <a:rPr lang="en-US" sz="2400" dirty="0"/>
              <a:t> &lt; </a:t>
            </a:r>
            <a:r>
              <a:rPr lang="en-US" sz="2400" dirty="0" err="1"/>
              <a:t>other.nomor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4107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D8874-68D2-2C2D-A765-BE18EFBD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AD49A4-7F4F-0738-C202-B0FEB691A006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2FA0E83-5ACF-4A99-0884-EDE4954C8E6B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54ECB68-ACC5-A7A5-1CF6-A9E57591DAC2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E227B58-A578-848A-4202-9C4C7CF0FC99}"/>
              </a:ext>
            </a:extLst>
          </p:cNvPr>
          <p:cNvSpPr txBox="1"/>
          <p:nvPr/>
        </p:nvSpPr>
        <p:spPr>
          <a:xfrm>
            <a:off x="1422165" y="-120195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CRUD CODE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2C0201-0114-51F8-FDD8-20AC9346DA32}"/>
              </a:ext>
            </a:extLst>
          </p:cNvPr>
          <p:cNvSpPr/>
          <p:nvPr/>
        </p:nvSpPr>
        <p:spPr>
          <a:xfrm>
            <a:off x="1007092" y="2747868"/>
            <a:ext cx="4343400" cy="1535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Create → tambah_kamar()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Read   → cari_kamar(), lihat_kamar()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Update → update_status_kamar()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Delete → hapus_kamar()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4E80C-620F-9442-1608-F12364784349}"/>
              </a:ext>
            </a:extLst>
          </p:cNvPr>
          <p:cNvSpPr txBox="1"/>
          <p:nvPr/>
        </p:nvSpPr>
        <p:spPr>
          <a:xfrm>
            <a:off x="7170188" y="4111433"/>
            <a:ext cx="8298412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CRUD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operasi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dasar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pengelolaan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data. 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reservasi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hotel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CRUD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diterapkan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mengelola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kamar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tamu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sehingga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ditambahkan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dilihat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diperbarui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maupun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dihapus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sesuai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kebutuhan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pengguna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EDB936-6E2D-5343-6FC1-B0B2E007C55D}"/>
              </a:ext>
            </a:extLst>
          </p:cNvPr>
          <p:cNvSpPr/>
          <p:nvPr/>
        </p:nvSpPr>
        <p:spPr>
          <a:xfrm>
            <a:off x="1143000" y="6210300"/>
            <a:ext cx="4343400" cy="1535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Create → tambah_tamu()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Read   → cari_tamu(), lihat_tamu()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Update → (belum ada)</a:t>
            </a:r>
          </a:p>
          <a:p>
            <a:r>
              <a:rPr lang="nb-NO" b="1" dirty="0">
                <a:latin typeface="Poppins" panose="00000500000000000000" pitchFamily="2" charset="0"/>
                <a:cs typeface="Poppins" panose="00000500000000000000" pitchFamily="2" charset="0"/>
              </a:rPr>
              <a:t>Delete → hapus_tamu()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4CE9A-7613-F1CD-E789-5C31814308E8}"/>
              </a:ext>
            </a:extLst>
          </p:cNvPr>
          <p:cNvSpPr txBox="1"/>
          <p:nvPr/>
        </p:nvSpPr>
        <p:spPr>
          <a:xfrm>
            <a:off x="2133600" y="2211303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CRUD Kamar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3E135-43B1-00B3-60A1-DEBE4CB1F953}"/>
              </a:ext>
            </a:extLst>
          </p:cNvPr>
          <p:cNvSpPr txBox="1"/>
          <p:nvPr/>
        </p:nvSpPr>
        <p:spPr>
          <a:xfrm>
            <a:off x="2034772" y="563423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CRUD Tamu</a:t>
            </a:r>
          </a:p>
        </p:txBody>
      </p:sp>
    </p:spTree>
    <p:extLst>
      <p:ext uri="{BB962C8B-B14F-4D97-AF65-F5344CB8AC3E}">
        <p14:creationId xmlns:p14="http://schemas.microsoft.com/office/powerpoint/2010/main" val="287185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72CBD-A18E-40C1-55AB-5D18D58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44040C-0201-299F-AC1C-CE548285A1CA}"/>
              </a:ext>
            </a:extLst>
          </p:cNvPr>
          <p:cNvSpPr/>
          <p:nvPr/>
        </p:nvSpPr>
        <p:spPr>
          <a:xfrm>
            <a:off x="-1210987" y="-1227995"/>
            <a:ext cx="19689775" cy="3171095"/>
          </a:xfrm>
          <a:custGeom>
            <a:avLst/>
            <a:gdLst/>
            <a:ahLst/>
            <a:cxnLst/>
            <a:rect l="l" t="t" r="r" b="b"/>
            <a:pathLst>
              <a:path w="19689775" h="4907291">
                <a:moveTo>
                  <a:pt x="0" y="0"/>
                </a:moveTo>
                <a:lnTo>
                  <a:pt x="19689775" y="0"/>
                </a:lnTo>
                <a:lnTo>
                  <a:pt x="19689775" y="4907291"/>
                </a:lnTo>
                <a:lnTo>
                  <a:pt x="0" y="4907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t="-12017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3081333-B7A4-79D9-CFD0-85118F494943}"/>
              </a:ext>
            </a:extLst>
          </p:cNvPr>
          <p:cNvSpPr/>
          <p:nvPr/>
        </p:nvSpPr>
        <p:spPr>
          <a:xfrm>
            <a:off x="-457200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0" y="0"/>
                </a:moveTo>
                <a:lnTo>
                  <a:pt x="2928583" y="0"/>
                </a:lnTo>
                <a:lnTo>
                  <a:pt x="2928583" y="2928583"/>
                </a:lnTo>
                <a:lnTo>
                  <a:pt x="0" y="2928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580BA1E-9299-330A-1244-420957914719}"/>
              </a:ext>
            </a:extLst>
          </p:cNvPr>
          <p:cNvSpPr/>
          <p:nvPr/>
        </p:nvSpPr>
        <p:spPr>
          <a:xfrm flipH="1">
            <a:off x="15550204" y="-1227995"/>
            <a:ext cx="2928584" cy="2928584"/>
          </a:xfrm>
          <a:custGeom>
            <a:avLst/>
            <a:gdLst/>
            <a:ahLst/>
            <a:cxnLst/>
            <a:rect l="l" t="t" r="r" b="b"/>
            <a:pathLst>
              <a:path w="2928584" h="2928584">
                <a:moveTo>
                  <a:pt x="2928583" y="0"/>
                </a:moveTo>
                <a:lnTo>
                  <a:pt x="0" y="0"/>
                </a:lnTo>
                <a:lnTo>
                  <a:pt x="0" y="2928583"/>
                </a:lnTo>
                <a:lnTo>
                  <a:pt x="2928583" y="2928583"/>
                </a:lnTo>
                <a:lnTo>
                  <a:pt x="292858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E1BC2BD-AC7F-BFEC-3CBA-5F33F2B862A1}"/>
              </a:ext>
            </a:extLst>
          </p:cNvPr>
          <p:cNvSpPr txBox="1"/>
          <p:nvPr/>
        </p:nvSpPr>
        <p:spPr>
          <a:xfrm>
            <a:off x="1422165" y="-120195"/>
            <a:ext cx="1442346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5"/>
              </a:lnSpc>
            </a:pPr>
            <a:r>
              <a:rPr lang="en-US" sz="58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Proses </a:t>
            </a:r>
            <a:r>
              <a:rPr lang="en-US" sz="589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Reservasi</a:t>
            </a:r>
            <a:endParaRPr lang="en-US" sz="58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F5AD6-F624-82A5-01C3-62D2E2BC6214}"/>
              </a:ext>
            </a:extLst>
          </p:cNvPr>
          <p:cNvSpPr txBox="1"/>
          <p:nvPr/>
        </p:nvSpPr>
        <p:spPr>
          <a:xfrm>
            <a:off x="6553200" y="3050900"/>
            <a:ext cx="8298412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Pada proses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reservasi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seluruh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alur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utama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penggunaan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sistem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hotel.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162E13-F837-89AA-C613-BB87E01BE54D}"/>
              </a:ext>
            </a:extLst>
          </p:cNvPr>
          <p:cNvSpPr/>
          <p:nvPr/>
        </p:nvSpPr>
        <p:spPr>
          <a:xfrm>
            <a:off x="1524000" y="2247900"/>
            <a:ext cx="4191000" cy="548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EA581-53F4-2F18-9241-508C35FB744F}"/>
              </a:ext>
            </a:extLst>
          </p:cNvPr>
          <p:cNvSpPr txBox="1"/>
          <p:nvPr/>
        </p:nvSpPr>
        <p:spPr>
          <a:xfrm>
            <a:off x="1828800" y="2286000"/>
            <a:ext cx="4648200" cy="545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Tambah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Tamu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Pilih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Kamar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Booking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Pembayaran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Reservasi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latin typeface="Poppins" panose="00000500000000000000" pitchFamily="2" charset="0"/>
                <a:cs typeface="Poppins" panose="00000500000000000000" pitchFamily="2" charset="0"/>
              </a:rPr>
              <a:t>dibuat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Check In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Check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0" y="5448300"/>
            <a:ext cx="9144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#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Reservasi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self.pembayaran</a:t>
            </a:r>
            <a:r>
              <a:rPr lang="en-US" sz="2400" dirty="0"/>
              <a:t> = </a:t>
            </a:r>
            <a:r>
              <a:rPr lang="en-US" sz="2400" dirty="0" err="1"/>
              <a:t>Pembayaran</a:t>
            </a:r>
            <a:r>
              <a:rPr lang="en-US" sz="2400" dirty="0"/>
              <a:t>(</a:t>
            </a:r>
            <a:r>
              <a:rPr lang="en-US" sz="2400" dirty="0" err="1"/>
              <a:t>metode_bayar</a:t>
            </a:r>
            <a:r>
              <a:rPr lang="en-US" sz="2400" dirty="0"/>
              <a:t>, </a:t>
            </a:r>
            <a:r>
              <a:rPr lang="en-US" sz="2400" dirty="0" err="1"/>
              <a:t>total_bayar</a:t>
            </a:r>
            <a:r>
              <a:rPr lang="en-US" sz="2400" dirty="0"/>
              <a:t>) # </a:t>
            </a:r>
            <a:r>
              <a:rPr lang="en-US" sz="2400" dirty="0" err="1"/>
              <a:t>Komposisi</a:t>
            </a:r>
            <a:r>
              <a:rPr lang="en-US" sz="2400" dirty="0"/>
              <a:t> </a:t>
            </a:r>
            <a:r>
              <a:rPr lang="en-US" sz="2400" dirty="0" err="1"/>
              <a:t>murni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917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532" y="844235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0" y="0"/>
                </a:moveTo>
                <a:lnTo>
                  <a:pt x="2595500" y="0"/>
                </a:lnTo>
                <a:lnTo>
                  <a:pt x="2595500" y="3199383"/>
                </a:lnTo>
                <a:lnTo>
                  <a:pt x="0" y="3199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663801" y="632549"/>
            <a:ext cx="2595499" cy="3199383"/>
          </a:xfrm>
          <a:custGeom>
            <a:avLst/>
            <a:gdLst/>
            <a:ahLst/>
            <a:cxnLst/>
            <a:rect l="l" t="t" r="r" b="b"/>
            <a:pathLst>
              <a:path w="2595499" h="3199383">
                <a:moveTo>
                  <a:pt x="2595499" y="0"/>
                </a:moveTo>
                <a:lnTo>
                  <a:pt x="0" y="0"/>
                </a:lnTo>
                <a:lnTo>
                  <a:pt x="0" y="3199383"/>
                </a:lnTo>
                <a:lnTo>
                  <a:pt x="2595499" y="3199383"/>
                </a:lnTo>
                <a:lnTo>
                  <a:pt x="259549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48806" y="110170"/>
            <a:ext cx="12284666" cy="8322861"/>
          </a:xfrm>
          <a:custGeom>
            <a:avLst/>
            <a:gdLst/>
            <a:ahLst/>
            <a:cxnLst/>
            <a:rect l="l" t="t" r="r" b="b"/>
            <a:pathLst>
              <a:path w="12284666" h="8322861">
                <a:moveTo>
                  <a:pt x="0" y="0"/>
                </a:moveTo>
                <a:lnTo>
                  <a:pt x="12284666" y="0"/>
                </a:lnTo>
                <a:lnTo>
                  <a:pt x="12284666" y="8322861"/>
                </a:lnTo>
                <a:lnTo>
                  <a:pt x="0" y="8322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45387">
            <a:off x="832733" y="6333888"/>
            <a:ext cx="3999980" cy="3274984"/>
          </a:xfrm>
          <a:custGeom>
            <a:avLst/>
            <a:gdLst/>
            <a:ahLst/>
            <a:cxnLst/>
            <a:rect l="l" t="t" r="r" b="b"/>
            <a:pathLst>
              <a:path w="3999980" h="3274984">
                <a:moveTo>
                  <a:pt x="0" y="0"/>
                </a:moveTo>
                <a:lnTo>
                  <a:pt x="3999980" y="0"/>
                </a:lnTo>
                <a:lnTo>
                  <a:pt x="3999980" y="3274983"/>
                </a:lnTo>
                <a:lnTo>
                  <a:pt x="0" y="3274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177000">
            <a:off x="14073679" y="6613525"/>
            <a:ext cx="2692664" cy="2692664"/>
          </a:xfrm>
          <a:custGeom>
            <a:avLst/>
            <a:gdLst/>
            <a:ahLst/>
            <a:cxnLst/>
            <a:rect l="l" t="t" r="r" b="b"/>
            <a:pathLst>
              <a:path w="2692664" h="2692664">
                <a:moveTo>
                  <a:pt x="0" y="0"/>
                </a:moveTo>
                <a:lnTo>
                  <a:pt x="2692664" y="0"/>
                </a:lnTo>
                <a:lnTo>
                  <a:pt x="2692664" y="2692664"/>
                </a:lnTo>
                <a:lnTo>
                  <a:pt x="0" y="2692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4175133" y="2222797"/>
            <a:ext cx="9832011" cy="371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0"/>
              </a:lnSpc>
            </a:pPr>
            <a:r>
              <a:rPr lang="en-US" sz="12622" b="1">
                <a:solidFill>
                  <a:srgbClr val="3853A2"/>
                </a:solidFill>
                <a:latin typeface="Poppins Bold"/>
                <a:ea typeface="Poppins Bold"/>
                <a:cs typeface="Poppins Bold"/>
                <a:sym typeface="Poppins Bold"/>
              </a:rPr>
              <a:t>TERIMA KASIH..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614</Words>
  <Application>Microsoft Office PowerPoint</Application>
  <PresentationFormat>Custom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Poppins Bold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Belajar Sistem Komputer Presentasi Ilustrasi</dc:title>
  <dc:creator>RAFAL</dc:creator>
  <cp:lastModifiedBy>E470</cp:lastModifiedBy>
  <cp:revision>10</cp:revision>
  <dcterms:created xsi:type="dcterms:W3CDTF">2006-08-16T00:00:00Z</dcterms:created>
  <dcterms:modified xsi:type="dcterms:W3CDTF">2026-06-15T16:36:32Z</dcterms:modified>
  <dc:identifier>DAHMhcZMK6c</dc:identifier>
</cp:coreProperties>
</file>